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665AC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Problem Statement ID – SIH1453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Problem Statement Title- Design &amp; Development of a Precision Guidance Kit (PGK) for 155 mm Artillery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Theme- Defense &amp; Security / Advanced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PS Category-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Team ID- 123456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Team Name (Registered on portal)- Team Astra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1097280" cy="914400"/>
          </a:xfrm>
          <a:prstGeom prst="ellipse">
            <a:avLst/>
          </a:prstGeom>
          <a:noFill/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Team</a:t>
            </a:r>
            <a:br/>
            <a:r>
              <a:t>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ASTRA-PGK 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65AC"/>
                </a:solidFill>
              </a:defRPr>
            </a:pPr>
            <a:r>
              <a:t>❖Proposed Solution (Describe your Idea/Solution/Prototype)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Detailed Explanation</a:t>
            </a:r>
            <a:br/>
            <a:br/>
            <a:r>
              <a:t>• Drop-in modular Precision Guidance Kit (PGK).</a:t>
            </a:r>
            <a:br/>
            <a:r>
              <a:t>• Multi-Mode Fuze: Proximity/Height-of-Burst (HOB), Point Detonating (PD), Delay, &amp; Electronic Time.</a:t>
            </a:r>
            <a:br/>
            <a:r>
              <a:t>• Contains 4× NACA-0010 Canards.</a:t>
            </a:r>
            <a:br/>
            <a:r>
              <a:t>• Uses 24GHz FMCW Radar &amp; NavIC GPS.</a:t>
            </a:r>
            <a:br/>
            <a:r>
              <a:t>• Employs 16-State Extended Kalman Filter.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How it addresses the problem</a:t>
            </a:r>
            <a:br/>
            <a:br/>
            <a:r>
              <a:t>• Fixes unguided dispersion: Reduces CEP from 265m down to 10.2m.</a:t>
            </a:r>
            <a:br/>
            <a:r>
              <a:t>• Limits Collateral Damage: High precision saves civilian infrastructure.</a:t>
            </a:r>
            <a:br/>
            <a:r>
              <a:t>• Ammunition Logistics: Cuts required rounds per target from 50 down to 1-2.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0D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Innovation &amp; Uniqueness</a:t>
            </a:r>
            <a:br/>
            <a:br/>
            <a:r>
              <a:t>• Hardened Mechatronics: Survives &gt;15,000 g axial shock via micro-potting.</a:t>
            </a:r>
            <a:br/>
            <a:r>
              <a:t>• MIL-STD-1316 Compliant: Dual-environment arming (Setback + Spin).</a:t>
            </a:r>
            <a:br/>
            <a:r>
              <a:t>• SWaP-C Optimized: Achieves $100k Excalibur performance for ~₹2.13 Lakh.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1097280" cy="914400"/>
          </a:xfrm>
          <a:prstGeom prst="ellipse">
            <a:avLst/>
          </a:prstGeom>
          <a:noFill/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Team</a:t>
            </a:r>
            <a:br/>
            <a:r>
              <a:t>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Technologies to be used (Hardware &amp; Software)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Hardware Stack:</a:t>
            </a:r>
            <a:br/>
            <a:r>
              <a:t>• Compute: STM32H743 MCU + Spartan-7 FPGA.</a:t>
            </a:r>
            <a:br/>
            <a:r>
              <a:t>• Fuze Hardware: 24GHz FMCW Radar (Proximity), Piezo (Point Detonating).</a:t>
            </a:r>
            <a:br/>
            <a:r>
              <a:t>• Sensors: ADIS16460 IMU, NavIC GPS, MS5611 Barometer.</a:t>
            </a:r>
            <a:br/>
            <a:r>
              <a:t>• Actuators: 50:1 Harmonic Drives, Maxon BLDCs.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Software &amp; Frameworks:</a:t>
            </a:r>
            <a:br/>
            <a:r>
              <a:t>• RTOS Firmware: Rate-monotonic 100Hz control loop.</a:t>
            </a:r>
            <a:br/>
            <a:r>
              <a:t>• Guidance Law: 2D Ballistic Impact-Point Prediction (BIPP).</a:t>
            </a:r>
            <a:br/>
            <a:r>
              <a:t>• Filter: 16-State Loosely Coupled EKF.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Methodology and process for implementation (Flow Chart)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2011680" cy="13716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1. Muzzle Exit</a:t>
            </a:r>
            <a:br/>
            <a:r>
              <a:t>(15k g, 827m/s)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840480"/>
            <a:ext cx="2011680" cy="13716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2. Arming</a:t>
            </a:r>
            <a:br/>
            <a:r>
              <a:t>(MIL-STD-1316)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2011680" cy="1371600"/>
          </a:xfrm>
          <a:prstGeom prst="rect">
            <a:avLst/>
          </a:prstGeom>
          <a:solidFill>
            <a:srgbClr val="0D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3. Deploy</a:t>
            </a:r>
            <a:br/>
            <a:r>
              <a:t>(Canards Unlatch)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840480"/>
            <a:ext cx="2011680" cy="13716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4. Midcourse</a:t>
            </a:r>
            <a:br/>
            <a:r>
              <a:t>(GPS/EKF Active)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3840480"/>
            <a:ext cx="2011680" cy="13716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5. Terminal</a:t>
            </a:r>
            <a:br/>
            <a:r>
              <a:t>(Multi-Mode Detonate)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1097280" cy="914400"/>
          </a:xfrm>
          <a:prstGeom prst="ellipse">
            <a:avLst/>
          </a:prstGeom>
          <a:noFill/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Team</a:t>
            </a:r>
            <a:br/>
            <a:r>
              <a:t>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Analysis of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• Built on proven, scalable components (MEMS IMU, standard BLDCs).</a:t>
            </a:r>
            <a:br/>
            <a:r>
              <a:t>• 6-DOF Monte Carlo simulation physically verifies aerodynamic limits and 10.2m CEP.</a:t>
            </a:r>
            <a:br/>
            <a:r>
              <a:t>• Drops directly into existing NATO 2-inch threaded shells.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Potential Challenges &amp; Strategies (FMEA)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3474720" cy="201168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Risk: High-g Delamination</a:t>
            </a:r>
            <a:br/>
            <a:br/>
            <a:r>
              <a:t>Strategy:</a:t>
            </a:r>
            <a:br/>
            <a:r>
              <a:t>Sub-assembly encapsulation via Polyurethane potting &amp; 3× M3 Ti shear pins. MIL-STD-810H qualified.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749039"/>
            <a:ext cx="3474720" cy="201168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Risk: EW / GNSS Jamming</a:t>
            </a:r>
            <a:br/>
            <a:br/>
            <a:r>
              <a:t>Strategy:</a:t>
            </a:r>
            <a:br/>
            <a:r>
              <a:t>Loose-coupled EKF reverts to ADIS16460 dead-reckoning fallback with baseband outlier rejection.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749039"/>
            <a:ext cx="3474720" cy="2011680"/>
          </a:xfrm>
          <a:prstGeom prst="rect">
            <a:avLst/>
          </a:prstGeom>
          <a:solidFill>
            <a:srgbClr val="0D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Risk: Premature Detonation</a:t>
            </a:r>
            <a:br/>
            <a:br/>
            <a:r>
              <a:t>Strategy:</a:t>
            </a:r>
            <a:br/>
            <a:r>
              <a:t>Electronic In-line S&amp;A limits. Dual-environment unlock (Axial &gt;10k g + Spin &gt;150 Hz).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1097280" cy="914400"/>
          </a:xfrm>
          <a:prstGeom prst="ellipse">
            <a:avLst/>
          </a:prstGeom>
          <a:noFill/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Team</a:t>
            </a:r>
            <a:br/>
            <a:r>
              <a:t>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Potential impact &amp; Benefits of the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41148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OPERATIONAL IMPACT</a:t>
            </a:r>
            <a:br/>
            <a:br/>
            <a:r>
              <a:t>• Dispersion Annihilation: Reduces CEP from 265m to 10.2m.</a:t>
            </a:r>
            <a:br/>
            <a:r>
              <a:t>• Logistics: Cuts ammunition transport burden exponentially (1-2 rounds per kill vs 50).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651760" cy="4114800"/>
          </a:xfrm>
          <a:prstGeom prst="rect">
            <a:avLst/>
          </a:prstGeom>
          <a:solidFill>
            <a:srgbClr val="0D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ECONOMIC BENEFITS</a:t>
            </a:r>
            <a:br/>
            <a:br/>
            <a:r>
              <a:t>• Unit Cost: ~₹2.13 Lakh (at scale) compared to ~$100,000 for Excalibur.</a:t>
            </a:r>
            <a:br/>
            <a:r>
              <a:t>• Extends barrel life by requiring fewer shots per target.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651760" cy="411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SAFETY / SOCIAL</a:t>
            </a:r>
            <a:br/>
            <a:br/>
            <a:r>
              <a:t>• Collateral Damage: Pinpoint accuracy allows use in dense/contested terrain safely.</a:t>
            </a:r>
            <a:br/>
            <a:r>
              <a:t>• MIL-STD-1316 safety architecture protects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828800"/>
            <a:ext cx="2651760" cy="41148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STRATEGIC</a:t>
            </a:r>
            <a:br/>
            <a:br/>
            <a:r>
              <a:t>• Atmanirbhar Bharat: 100% domestic IP, machined from local Ti-6Al-4V.</a:t>
            </a:r>
            <a:br/>
            <a:r>
              <a:t>• Zero vendor lock-in. Massive export potential.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6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1097280" cy="914400"/>
          </a:xfrm>
          <a:prstGeom prst="ellipse">
            <a:avLst/>
          </a:prstGeom>
          <a:noFill/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Team</a:t>
            </a:r>
            <a:br/>
            <a:r>
              <a:t>Astra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• Details / Links of the reference and research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Academic &amp; Ballistic Research:</a:t>
            </a:r>
            <a:br/>
            <a:br/>
            <a:r>
              <a:t>• McCoy, 'Modern Exterior Ballistics': Theoretical foundation for our 6-DOF Modified Point Mass trajectory engine.</a:t>
            </a:r>
            <a:br/>
            <a:br/>
            <a:r>
              <a:t>• Magnus Drift Analysis: Integration of cross-range drift calculations (F_magnus ∝ V × ω) yielding ~35m unguided drift.</a:t>
            </a:r>
            <a:br/>
            <a:br/>
            <a:r>
              <a:t>• Validated via 1,000-run Python/NumPy Monte Carlo simulations.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Defense Standardization Links:</a:t>
            </a:r>
            <a:br/>
            <a:br/>
            <a:r>
              <a:t>• MIL-STD-333B: Fuze contours and standard 2-inch threading specifications.</a:t>
            </a:r>
            <a:br/>
            <a:br/>
            <a:r>
              <a:t>• MIL-STD-1316: Design criteria for fuze safety and Electronic In-line Safety &amp; Arming (EISA).</a:t>
            </a:r>
            <a:br/>
            <a:br/>
            <a:r>
              <a:t>• STANAG 4369: Inductive fuze setting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